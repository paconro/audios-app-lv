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521C77-184F-1ECB-EF6F-403DCE3C893F}" v="283" dt="2026-10-06T06:20:14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Contenido basado en el archivo proporcionado por el usuario: Documento sin título.md.
- Visual de esta diapositiva generado con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Contenido basado en el archivo proporcionado por el usuario: Documento sin título.md.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Contenido basado en el archivo proporcionado por el usuario: Documento sin título.md.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Contenido basado en el archivo proporcionado por el usuario: Documento sin título.md.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Contenido basado en el archivo proporcionado por el usuario: Documento sin título.md.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Contenido basado en el archivo proporcionado por el usuario: Documento sin título.md.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Contenido basado en el archivo proporcionado por el usuario: Documento sin título.md.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Contenido basado en el archivo proporcionado por el usuario: Documento sin título.md.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Contenido basado en el archivo proporcionado por el usuario: Documento sin título.md.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512D"/>
          </a:solidFill>
          <a:ln w="12700">
            <a:solidFill>
              <a:srgbClr val="C451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C45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CILVĒKU BIOGRĀFIJAS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21040" y="1645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PRETÉRITO INDEFINIDO · BLOQUE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6510528"/>
            <a:ext cx="11201400" cy="0"/>
          </a:xfrm>
          <a:prstGeom prst="line">
            <a:avLst/>
          </a:prstGeom>
          <a:noFill/>
          <a:ln w="12700">
            <a:solidFill>
              <a:srgbClr val="D9CCB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ecceb21f2b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>
              <a:alpha val="68000"/>
            </a:srgbClr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6384" y="731520"/>
            <a:ext cx="10596184" cy="2580571"/>
          </a:xfrm>
          <a:prstGeom prst="roundRect">
            <a:avLst>
              <a:gd name="adj" fmla="val 1681"/>
            </a:avLst>
          </a:prstGeom>
          <a:solidFill>
            <a:srgbClr val="17324D">
              <a:alpha val="90000"/>
            </a:srgbClr>
          </a:solidFill>
          <a:ln w="15240">
            <a:solidFill>
              <a:srgbClr val="FFFFFF">
                <a:alpha val="25000"/>
              </a:srgbClr>
            </a:solidFill>
            <a:prstDash val="solid"/>
          </a:ln>
          <a:effectLst/>
        </p:spPr>
      </p:sp>
      <p:sp>
        <p:nvSpPr>
          <p:cNvPr id="5" name="Text 2"/>
          <p:cNvSpPr/>
          <p:nvPr/>
        </p:nvSpPr>
        <p:spPr>
          <a:xfrm>
            <a:off x="1153438" y="1078992"/>
            <a:ext cx="9879069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CILVĒKU BIOGRAFĪJAS</a:t>
            </a:r>
            <a:endParaRPr lang="en-US" sz="4400"/>
          </a:p>
        </p:txBody>
      </p:sp>
      <p:sp>
        <p:nvSpPr>
          <p:cNvPr id="6" name="Text 3"/>
          <p:cNvSpPr/>
          <p:nvPr/>
        </p:nvSpPr>
        <p:spPr>
          <a:xfrm>
            <a:off x="1163876" y="2514600"/>
            <a:ext cx="99049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F1C66B"/>
                </a:solidFill>
              </a:rPr>
              <a:t>Día de la Hispanidad</a:t>
            </a:r>
            <a:endParaRPr lang="en-US" sz="3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046720" y="1143000"/>
            <a:ext cx="3383280" cy="3429000"/>
          </a:xfrm>
          <a:prstGeom prst="arc">
            <a:avLst/>
          </a:prstGeom>
          <a:solidFill>
            <a:srgbClr val="17324D">
              <a:alpha val="0"/>
            </a:srgbClr>
          </a:solidFill>
          <a:ln w="38100">
            <a:solidFill>
              <a:srgbClr val="D6A84B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692640" y="960120"/>
            <a:ext cx="256032" cy="256032"/>
          </a:xfrm>
          <a:prstGeom prst="ellipse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4956048"/>
            <a:ext cx="256032" cy="256032"/>
          </a:xfrm>
          <a:prstGeom prst="ellipse">
            <a:avLst/>
          </a:prstGeom>
          <a:solidFill>
            <a:srgbClr val="C4512D"/>
          </a:solidFill>
          <a:ln w="12700">
            <a:solidFill>
              <a:srgbClr val="C451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669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F1C66B"/>
                </a:solidFill>
              </a:rPr>
              <a:t>DÍA DE LA HISPANIDAD  ×  CILVĒKU BIOGRĀFIJAS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20700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Cilvēku biogrāfijas: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58368" y="184708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C66B"/>
                </a:solidFill>
              </a:rPr>
              <a:t>El Día de la Hispanidad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94944" y="340156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84B"/>
                </a:solidFill>
              </a:rPr>
              <a:t>1451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72768" y="3364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Cristóbal Colón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nació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en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Génova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en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1451.</a:t>
            </a:r>
          </a:p>
        </p:txBody>
      </p:sp>
      <p:sp>
        <p:nvSpPr>
          <p:cNvPr id="15" name="Text 13"/>
          <p:cNvSpPr/>
          <p:nvPr/>
        </p:nvSpPr>
        <p:spPr>
          <a:xfrm>
            <a:off x="694944" y="41148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84B"/>
                </a:solidFill>
              </a:rPr>
              <a:t>1492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72768" y="4078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CE4EA"/>
                </a:solidFill>
                <a:ea typeface="+mn-lt"/>
                <a:cs typeface="+mn-lt"/>
              </a:rPr>
              <a:t>En 1492 </a:t>
            </a:r>
            <a:r>
              <a:rPr lang="en-US" sz="1800" dirty="0" err="1">
                <a:solidFill>
                  <a:srgbClr val="DCE4EA"/>
                </a:solidFill>
                <a:ea typeface="+mn-lt"/>
                <a:cs typeface="+mn-lt"/>
              </a:rPr>
              <a:t>viajó</a:t>
            </a:r>
            <a:r>
              <a:rPr lang="en-US" sz="1800" dirty="0">
                <a:solidFill>
                  <a:srgbClr val="DCE4EA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DCE4EA"/>
                </a:solidFill>
                <a:ea typeface="+mn-lt"/>
                <a:cs typeface="+mn-lt"/>
              </a:rPr>
              <a:t>hacia</a:t>
            </a:r>
            <a:r>
              <a:rPr lang="en-US" sz="1800" dirty="0">
                <a:solidFill>
                  <a:srgbClr val="DCE4EA"/>
                </a:solidFill>
                <a:ea typeface="+mn-lt"/>
                <a:cs typeface="+mn-lt"/>
              </a:rPr>
              <a:t> el </a:t>
            </a:r>
            <a:r>
              <a:rPr lang="en-US" sz="1800" dirty="0" err="1">
                <a:solidFill>
                  <a:srgbClr val="DCE4EA"/>
                </a:solidFill>
                <a:ea typeface="+mn-lt"/>
                <a:cs typeface="+mn-lt"/>
              </a:rPr>
              <a:t>oeste</a:t>
            </a:r>
            <a:r>
              <a:rPr lang="en-US" dirty="0">
                <a:solidFill>
                  <a:srgbClr val="DCE4EA"/>
                </a:solidFill>
                <a:ea typeface="+mn-lt"/>
                <a:cs typeface="+mn-lt"/>
              </a:rPr>
              <a:t> con </a:t>
            </a:r>
            <a:r>
              <a:rPr lang="en-US" dirty="0" err="1">
                <a:solidFill>
                  <a:srgbClr val="DCE4EA"/>
                </a:solidFill>
                <a:ea typeface="+mn-lt"/>
                <a:cs typeface="+mn-lt"/>
              </a:rPr>
              <a:t>tres</a:t>
            </a:r>
            <a:r>
              <a:rPr lang="en-US" dirty="0">
                <a:solidFill>
                  <a:srgbClr val="DCE4EA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DCE4EA"/>
                </a:solidFill>
                <a:ea typeface="+mn-lt"/>
                <a:cs typeface="+mn-lt"/>
              </a:rPr>
              <a:t>barcos</a:t>
            </a:r>
            <a:r>
              <a:rPr lang="en-US" dirty="0">
                <a:solidFill>
                  <a:srgbClr val="DCE4EA"/>
                </a:solidFill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4944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84B"/>
                </a:solidFill>
              </a:rPr>
              <a:t>12 OCT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72768" y="47914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DCE4EA"/>
                </a:solidFill>
              </a:rPr>
              <a:t>El 12 de octubre </a:t>
            </a:r>
            <a:r>
              <a:rPr lang="en-US" sz="1800" dirty="0">
                <a:solidFill>
                  <a:srgbClr val="DCE4EA"/>
                </a:solidFill>
              </a:rPr>
              <a:t>llegó a </a:t>
            </a:r>
            <a:r>
              <a:rPr lang="en-US" dirty="0">
                <a:solidFill>
                  <a:srgbClr val="DCE4EA"/>
                </a:solidFill>
              </a:rPr>
              <a:t>la isla de </a:t>
            </a:r>
            <a:r>
              <a:rPr lang="en-US" sz="1800" dirty="0">
                <a:solidFill>
                  <a:srgbClr val="DCE4EA"/>
                </a:solidFill>
              </a:rPr>
              <a:t>Guanahani</a:t>
            </a:r>
            <a:r>
              <a:rPr lang="en-US" dirty="0">
                <a:solidFill>
                  <a:srgbClr val="DCE4EA"/>
                </a:solidFill>
              </a:rPr>
              <a:t> y </a:t>
            </a:r>
            <a:r>
              <a:rPr lang="en-US" dirty="0" err="1">
                <a:solidFill>
                  <a:srgbClr val="DCE4EA"/>
                </a:solidFill>
              </a:rPr>
              <a:t>cambió</a:t>
            </a:r>
            <a:r>
              <a:rPr lang="en-US" dirty="0">
                <a:solidFill>
                  <a:srgbClr val="DCE4EA"/>
                </a:solidFill>
              </a:rPr>
              <a:t> la </a:t>
            </a:r>
            <a:r>
              <a:rPr lang="en-US" dirty="0" err="1">
                <a:solidFill>
                  <a:srgbClr val="DCE4EA"/>
                </a:solidFill>
              </a:rPr>
              <a:t>historia</a:t>
            </a:r>
            <a:r>
              <a:rPr lang="en-US" dirty="0">
                <a:solidFill>
                  <a:srgbClr val="DCE4EA"/>
                </a:solidFill>
              </a:rPr>
              <a:t>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040880" y="5065776"/>
            <a:ext cx="4434840" cy="987552"/>
          </a:xfrm>
          <a:prstGeom prst="roundRect">
            <a:avLst>
              <a:gd name="adj" fmla="val 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53400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¿Qué cambia entre viaja y viajó?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9AC67DF8-8028-401E-5F6F-463F35AFC1B7}"/>
              </a:ext>
            </a:extLst>
          </p:cNvPr>
          <p:cNvSpPr/>
          <p:nvPr/>
        </p:nvSpPr>
        <p:spPr>
          <a:xfrm>
            <a:off x="6445893" y="1913391"/>
            <a:ext cx="4434840" cy="987552"/>
          </a:xfrm>
          <a:prstGeom prst="roundRect">
            <a:avLst>
              <a:gd name="adj" fmla="val 555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66603-AEA8-A46B-E887-C7B56987F98E}"/>
              </a:ext>
            </a:extLst>
          </p:cNvPr>
          <p:cNvSpPr txBox="1"/>
          <p:nvPr/>
        </p:nvSpPr>
        <p:spPr>
          <a:xfrm>
            <a:off x="6664435" y="2139572"/>
            <a:ext cx="401667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Pretérito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indefinido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C4512D"/>
                </a:solidFill>
              </a:rPr>
              <a:t>MICRO-BIOGRAFÍAS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</a:rPr>
              <a:t>3 historias del 12 de octubre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493008" cy="4233672"/>
          </a:xfrm>
          <a:prstGeom prst="roundRect">
            <a:avLst>
              <a:gd name="adj" fmla="val 2094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5" name="Text 3"/>
          <p:cNvSpPr/>
          <p:nvPr/>
        </p:nvSpPr>
        <p:spPr>
          <a:xfrm>
            <a:off x="822960" y="181051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4512D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554480" y="2039112"/>
            <a:ext cx="2212848" cy="1"/>
          </a:xfrm>
          <a:prstGeom prst="line">
            <a:avLst/>
          </a:prstGeom>
          <a:noFill/>
          <a:ln w="25400">
            <a:solidFill>
              <a:srgbClr val="C451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4203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Cristóbal Colón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456432"/>
            <a:ext cx="29718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12B"/>
                </a:solidFill>
              </a:rPr>
              <a:t>Nació en Italia, navegó por el océano Atlántico y descubrió un nuevo continente.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4416552" y="1572768"/>
            <a:ext cx="3493008" cy="4233672"/>
          </a:xfrm>
          <a:prstGeom prst="roundRect">
            <a:avLst>
              <a:gd name="adj" fmla="val 2094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2" name="Text 10"/>
          <p:cNvSpPr/>
          <p:nvPr/>
        </p:nvSpPr>
        <p:spPr>
          <a:xfrm>
            <a:off x="4645152" y="181051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A84B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376672" y="2039112"/>
            <a:ext cx="2212848" cy="1"/>
          </a:xfrm>
          <a:prstGeom prst="line">
            <a:avLst/>
          </a:prstGeom>
          <a:noFill/>
          <a:ln w="25400">
            <a:solidFill>
              <a:srgbClr val="D6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54203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Isabel I de Castilla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45152" y="3456432"/>
            <a:ext cx="29718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12B"/>
                </a:solidFill>
              </a:rPr>
              <a:t>Apoyó el proyecto, financió la expedición y firmó los documentos en Granada.</a:t>
            </a:r>
            <a:endParaRPr lang="en-US" sz="2000"/>
          </a:p>
        </p:txBody>
      </p:sp>
      <p:sp>
        <p:nvSpPr>
          <p:cNvPr id="18" name="Shape 16"/>
          <p:cNvSpPr/>
          <p:nvPr/>
        </p:nvSpPr>
        <p:spPr>
          <a:xfrm>
            <a:off x="8238744" y="1572768"/>
            <a:ext cx="3493008" cy="4233672"/>
          </a:xfrm>
          <a:prstGeom prst="roundRect">
            <a:avLst>
              <a:gd name="adj" fmla="val 2094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9" name="Text 17"/>
          <p:cNvSpPr/>
          <p:nvPr/>
        </p:nvSpPr>
        <p:spPr>
          <a:xfrm>
            <a:off x="8467344" y="181051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7B77"/>
                </a:solidFill>
              </a:rPr>
              <a:t>03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198864" y="2039112"/>
            <a:ext cx="2212848" cy="1"/>
          </a:xfrm>
          <a:prstGeom prst="line">
            <a:avLst/>
          </a:prstGeom>
          <a:noFill/>
          <a:ln w="25400">
            <a:solidFill>
              <a:srgbClr val="247B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7344" y="254203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Los marineros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67344" y="3456432"/>
            <a:ext cx="29718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12B"/>
                </a:solidFill>
              </a:rPr>
              <a:t>Salieron del puerto de Palos, pasaron dos meses en el mar y llegaron a América.</a:t>
            </a:r>
            <a:endParaRPr lang="en-US" sz="2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C4512D"/>
                </a:solidFill>
              </a:rPr>
              <a:t>VERBOS REGULARES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</a:rPr>
              <a:t>Pretérito Indefinido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517842"/>
              </p:ext>
            </p:extLst>
          </p:nvPr>
        </p:nvGraphicFramePr>
        <p:xfrm>
          <a:off x="685800" y="1481328"/>
          <a:ext cx="10835640" cy="409651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Persona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-AR · viajar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-ER · aprender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-IR · escribir</a:t>
                      </a:r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yo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viajé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aprendí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escribí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tú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viajaste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aprendiste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escribiste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él / ella / usted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viajó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aprendió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escribió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nosotros/-as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viajamos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aprendimos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escribimos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vosotros/-as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viajasteis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aprendisteis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escribisteis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ellos / ellas / ustedes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viajaron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aprendieron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7212B"/>
                          </a:solidFill>
                        </a:rPr>
                        <a:t>escribieron</a:t>
                      </a:r>
                      <a:endParaRPr lang="en-US" sz="200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3182112"/>
            <a:ext cx="10890504" cy="612648"/>
          </a:xfrm>
          <a:prstGeom prst="roundRect">
            <a:avLst>
              <a:gd name="adj" fmla="val 4478"/>
            </a:avLst>
          </a:prstGeom>
          <a:solidFill>
            <a:srgbClr val="D6A84B">
              <a:alpha val="18000"/>
            </a:srgbClr>
          </a:solidFill>
          <a:ln w="25400">
            <a:solidFill>
              <a:srgbClr val="D6A8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4928616"/>
            <a:ext cx="10890504" cy="612648"/>
          </a:xfrm>
          <a:prstGeom prst="roundRect">
            <a:avLst>
              <a:gd name="adj" fmla="val 4478"/>
            </a:avLst>
          </a:prstGeom>
          <a:solidFill>
            <a:srgbClr val="D6A84B">
              <a:alpha val="18000"/>
            </a:srgbClr>
          </a:solidFill>
          <a:ln w="25400">
            <a:solidFill>
              <a:srgbClr val="D6A8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59893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512D"/>
                </a:solidFill>
              </a:rPr>
              <a:t>BIOGRAFÍAS  →  fíjate en él/ella: -ó / -ió  ·  ellos/ellas: -aron / -ieron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C4512D"/>
                </a:solidFill>
              </a:rPr>
              <a:t>PRÁCTICA GUIADA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</a:rPr>
              <a:t>Detectives de biografías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26464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9616B"/>
                </a:solidFill>
              </a:rPr>
              <a:t>Completa en tu cuaderno con el Pretérito Indefinido.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" y="1837944"/>
            <a:ext cx="420624" cy="420624"/>
          </a:xfrm>
          <a:prstGeom prst="ellipse">
            <a:avLst/>
          </a:prstGeom>
          <a:solidFill>
            <a:srgbClr val="C451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38528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98448" y="1810512"/>
            <a:ext cx="9811512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8" name="Text 6"/>
          <p:cNvSpPr/>
          <p:nvPr/>
        </p:nvSpPr>
        <p:spPr>
          <a:xfrm>
            <a:off x="1517904" y="1929384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</a:rPr>
              <a:t>La reina Isabel __________ (hablar) con Colón en Granada.</a:t>
            </a:r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2642616"/>
            <a:ext cx="420624" cy="420624"/>
          </a:xfrm>
          <a:prstGeom prst="ellipse">
            <a:avLst/>
          </a:prstGeom>
          <a:solidFill>
            <a:srgbClr val="C451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743200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98448" y="2615184"/>
            <a:ext cx="9811512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2" name="Text 10"/>
          <p:cNvSpPr/>
          <p:nvPr/>
        </p:nvSpPr>
        <p:spPr>
          <a:xfrm>
            <a:off x="1517904" y="2734056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</a:rPr>
              <a:t>Colón __________ (escribir) un diario durante la travesía.</a:t>
            </a:r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3447288"/>
            <a:ext cx="420624" cy="420624"/>
          </a:xfrm>
          <a:prstGeom prst="ellipse">
            <a:avLst/>
          </a:prstGeom>
          <a:solidFill>
            <a:srgbClr val="247B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547872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98448" y="3419856"/>
            <a:ext cx="9811512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6" name="Text 14"/>
          <p:cNvSpPr/>
          <p:nvPr/>
        </p:nvSpPr>
        <p:spPr>
          <a:xfrm>
            <a:off x="1517904" y="3538728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600" dirty="0">
                <a:solidFill>
                  <a:srgbClr val="17212B"/>
                </a:solidFill>
              </a:rPr>
              <a:t>L</a:t>
            </a:r>
            <a:r>
              <a:rPr lang="en-US" dirty="0">
                <a:solidFill>
                  <a:srgbClr val="17212B"/>
                </a:solidFill>
              </a:rPr>
              <a:t>os Reyes Católicos __________ (comprar) tres barcos.</a:t>
            </a:r>
          </a:p>
        </p:txBody>
      </p:sp>
      <p:sp>
        <p:nvSpPr>
          <p:cNvPr id="17" name="Shape 15"/>
          <p:cNvSpPr/>
          <p:nvPr/>
        </p:nvSpPr>
        <p:spPr>
          <a:xfrm>
            <a:off x="713232" y="4251960"/>
            <a:ext cx="420624" cy="420624"/>
          </a:xfrm>
          <a:prstGeom prst="ellipse">
            <a:avLst/>
          </a:prstGeom>
          <a:solidFill>
            <a:srgbClr val="247B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352544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98448" y="4224528"/>
            <a:ext cx="9811512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20" name="Text 18"/>
          <p:cNvSpPr/>
          <p:nvPr/>
        </p:nvSpPr>
        <p:spPr>
          <a:xfrm>
            <a:off x="1517904" y="4343400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dirty="0">
                <a:solidFill>
                  <a:srgbClr val="17212B"/>
                </a:solidFill>
              </a:rPr>
              <a:t>Los marineros __________ (salir) de España en agosto de 1492.</a:t>
            </a:r>
          </a:p>
        </p:txBody>
      </p:sp>
      <p:sp>
        <p:nvSpPr>
          <p:cNvPr id="21" name="Shape 19"/>
          <p:cNvSpPr/>
          <p:nvPr/>
        </p:nvSpPr>
        <p:spPr>
          <a:xfrm>
            <a:off x="713232" y="5056632"/>
            <a:ext cx="420624" cy="420624"/>
          </a:xfrm>
          <a:prstGeom prst="ellipse">
            <a:avLst/>
          </a:prstGeom>
          <a:solidFill>
            <a:srgbClr val="D6A8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157216"/>
            <a:ext cx="347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98448" y="5029200"/>
            <a:ext cx="9811512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24" name="Text 22"/>
          <p:cNvSpPr/>
          <p:nvPr/>
        </p:nvSpPr>
        <p:spPr>
          <a:xfrm>
            <a:off x="1517904" y="5148072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dirty="0">
                <a:solidFill>
                  <a:srgbClr val="17212B"/>
                </a:solidFill>
              </a:rPr>
              <a:t>El viaje __________ (cambiar) el mundo para siempre.</a:t>
            </a:r>
          </a:p>
        </p:txBody>
      </p:sp>
      <p:sp>
        <p:nvSpPr>
          <p:cNvPr id="25" name="Shape 23"/>
          <p:cNvSpPr/>
          <p:nvPr/>
        </p:nvSpPr>
        <p:spPr>
          <a:xfrm>
            <a:off x="7891272" y="6007608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  <a:effectLst/>
        </p:spPr>
      </p:sp>
      <p:sp>
        <p:nvSpPr>
          <p:cNvPr id="26" name="Text 24"/>
          <p:cNvSpPr/>
          <p:nvPr/>
        </p:nvSpPr>
        <p:spPr>
          <a:xfrm>
            <a:off x="8001000" y="6071616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PISTA: identifica primero el sujeto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C4512D"/>
                </a:solidFill>
              </a:rPr>
              <a:t>SOLUCIONARIO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</a:rPr>
              <a:t>Verificación rápida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49808" y="1609344"/>
            <a:ext cx="310896" cy="310896"/>
          </a:xfrm>
          <a:prstGeom prst="ellipse">
            <a:avLst/>
          </a:prstGeom>
          <a:solidFill>
            <a:srgbClr val="247B77"/>
          </a:solidFill>
          <a:ln w="12700">
            <a:solidFill>
              <a:srgbClr val="247B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623060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1536192"/>
            <a:ext cx="9829800" cy="612648"/>
          </a:xfrm>
          <a:prstGeom prst="roundRect">
            <a:avLst>
              <a:gd name="adj" fmla="val 11940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7" name="Text 5"/>
          <p:cNvSpPr/>
          <p:nvPr/>
        </p:nvSpPr>
        <p:spPr>
          <a:xfrm>
            <a:off x="1536192" y="1700784"/>
            <a:ext cx="7242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</a:rPr>
              <a:t>La reina Isabel habló con Colón en Granada.</a:t>
            </a: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88552" y="1673352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C4512D"/>
          </a:solidFill>
          <a:ln w="12700">
            <a:solidFill>
              <a:srgbClr val="C4512D"/>
            </a:solidFill>
            <a:prstDash val="solid"/>
          </a:ln>
          <a:effectLst/>
        </p:spPr>
      </p:sp>
      <p:sp>
        <p:nvSpPr>
          <p:cNvPr id="9" name="Text 7"/>
          <p:cNvSpPr/>
          <p:nvPr/>
        </p:nvSpPr>
        <p:spPr>
          <a:xfrm>
            <a:off x="9098280" y="1737360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HABLÓ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2450592"/>
            <a:ext cx="310896" cy="310896"/>
          </a:xfrm>
          <a:prstGeom prst="ellipse">
            <a:avLst/>
          </a:prstGeom>
          <a:solidFill>
            <a:srgbClr val="247B77"/>
          </a:solidFill>
          <a:ln w="12700">
            <a:solidFill>
              <a:srgbClr val="247B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464308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2355028"/>
            <a:ext cx="9829800" cy="612648"/>
          </a:xfrm>
          <a:prstGeom prst="roundRect">
            <a:avLst>
              <a:gd name="adj" fmla="val 11940"/>
            </a:avLst>
          </a:prstGeom>
          <a:solidFill>
            <a:srgbClr val="FFF9EF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3" name="Text 11"/>
          <p:cNvSpPr/>
          <p:nvPr/>
        </p:nvSpPr>
        <p:spPr>
          <a:xfrm>
            <a:off x="1536192" y="2542032"/>
            <a:ext cx="7242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</a:rPr>
              <a:t>Colón escribió un diario de viaje durante la travesía.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988552" y="2514600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247B77"/>
          </a:solidFill>
          <a:ln w="12700">
            <a:solidFill>
              <a:srgbClr val="247B77"/>
            </a:solidFill>
            <a:prstDash val="solid"/>
          </a:ln>
          <a:effectLst/>
        </p:spPr>
      </p:sp>
      <p:sp>
        <p:nvSpPr>
          <p:cNvPr id="15" name="Text 13"/>
          <p:cNvSpPr/>
          <p:nvPr/>
        </p:nvSpPr>
        <p:spPr>
          <a:xfrm>
            <a:off x="9098280" y="2578608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ESCRIBIÓ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" y="3291840"/>
            <a:ext cx="310896" cy="310896"/>
          </a:xfrm>
          <a:prstGeom prst="ellipse">
            <a:avLst/>
          </a:prstGeom>
          <a:solidFill>
            <a:srgbClr val="247B77"/>
          </a:solidFill>
          <a:ln w="12700">
            <a:solidFill>
              <a:srgbClr val="247B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305556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4440" y="3218688"/>
            <a:ext cx="9829800" cy="612648"/>
          </a:xfrm>
          <a:prstGeom prst="roundRect">
            <a:avLst>
              <a:gd name="adj" fmla="val 11940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9" name="Text 17"/>
          <p:cNvSpPr/>
          <p:nvPr/>
        </p:nvSpPr>
        <p:spPr>
          <a:xfrm>
            <a:off x="1536192" y="3383280"/>
            <a:ext cx="7242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</a:rPr>
              <a:t>Los Reyes Católicos compraron tres barcos para la expedición.</a:t>
            </a:r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88552" y="3355848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C4512D"/>
          </a:solidFill>
          <a:ln w="12700">
            <a:solidFill>
              <a:srgbClr val="C4512D"/>
            </a:solidFill>
            <a:prstDash val="solid"/>
          </a:ln>
          <a:effectLst/>
        </p:spPr>
      </p:sp>
      <p:sp>
        <p:nvSpPr>
          <p:cNvPr id="21" name="Text 19"/>
          <p:cNvSpPr/>
          <p:nvPr/>
        </p:nvSpPr>
        <p:spPr>
          <a:xfrm>
            <a:off x="9098280" y="341985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COMPRARON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" y="4133088"/>
            <a:ext cx="310896" cy="310896"/>
          </a:xfrm>
          <a:prstGeom prst="ellipse">
            <a:avLst/>
          </a:prstGeom>
          <a:solidFill>
            <a:srgbClr val="247B77"/>
          </a:solidFill>
          <a:ln w="12700">
            <a:solidFill>
              <a:srgbClr val="247B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4146804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4440" y="4059936"/>
            <a:ext cx="9829800" cy="612648"/>
          </a:xfrm>
          <a:prstGeom prst="roundRect">
            <a:avLst>
              <a:gd name="adj" fmla="val 11940"/>
            </a:avLst>
          </a:prstGeom>
          <a:solidFill>
            <a:srgbClr val="FFF9EF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25" name="Text 23"/>
          <p:cNvSpPr/>
          <p:nvPr/>
        </p:nvSpPr>
        <p:spPr>
          <a:xfrm>
            <a:off x="1536192" y="4224528"/>
            <a:ext cx="7242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</a:rPr>
              <a:t>Los marineros salieron de España en agosto de 1492.</a:t>
            </a:r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988552" y="419709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247B77"/>
          </a:solidFill>
          <a:ln w="12700">
            <a:solidFill>
              <a:srgbClr val="247B77"/>
            </a:solidFill>
            <a:prstDash val="solid"/>
          </a:ln>
          <a:effectLst/>
        </p:spPr>
      </p:sp>
      <p:sp>
        <p:nvSpPr>
          <p:cNvPr id="27" name="Text 25"/>
          <p:cNvSpPr/>
          <p:nvPr/>
        </p:nvSpPr>
        <p:spPr>
          <a:xfrm>
            <a:off x="9098280" y="4261104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SALIERON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" y="4974336"/>
            <a:ext cx="310896" cy="310896"/>
          </a:xfrm>
          <a:prstGeom prst="ellipse">
            <a:avLst/>
          </a:prstGeom>
          <a:solidFill>
            <a:srgbClr val="247B77"/>
          </a:solidFill>
          <a:ln w="12700">
            <a:solidFill>
              <a:srgbClr val="247B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4988052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34440" y="4901184"/>
            <a:ext cx="9829800" cy="612648"/>
          </a:xfrm>
          <a:prstGeom prst="roundRect">
            <a:avLst>
              <a:gd name="adj" fmla="val 11940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31" name="Text 29"/>
          <p:cNvSpPr/>
          <p:nvPr/>
        </p:nvSpPr>
        <p:spPr>
          <a:xfrm>
            <a:off x="1536192" y="5065776"/>
            <a:ext cx="7242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7212B"/>
                </a:solidFill>
              </a:rPr>
              <a:t>El viaje cambió el mundo para siempre.</a:t>
            </a:r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988552" y="5038344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C4512D"/>
          </a:solidFill>
          <a:ln w="12700">
            <a:solidFill>
              <a:srgbClr val="C4512D"/>
            </a:solidFill>
            <a:prstDash val="solid"/>
          </a:ln>
          <a:effectLst/>
        </p:spPr>
      </p:sp>
      <p:sp>
        <p:nvSpPr>
          <p:cNvPr id="33" name="Text 31"/>
          <p:cNvSpPr/>
          <p:nvPr/>
        </p:nvSpPr>
        <p:spPr>
          <a:xfrm>
            <a:off x="9098280" y="510235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CAMBIÓ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43200" y="5989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Comprueba: sujeto → persona → terminación → tilde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C4512D"/>
                </a:solidFill>
              </a:rPr>
              <a:t>BIOGRAFÍA SECRETA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</a:rPr>
              <a:t>Biogrāfijas mīkla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417320"/>
            <a:ext cx="3703320" cy="4526280"/>
          </a:xfrm>
          <a:prstGeom prst="roundRect">
            <a:avLst>
              <a:gd name="adj" fmla="val 1975"/>
            </a:avLst>
          </a:prstGeom>
          <a:solidFill>
            <a:srgbClr val="17324D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5" name="Text 3"/>
          <p:cNvSpPr/>
          <p:nvPr/>
        </p:nvSpPr>
        <p:spPr>
          <a:xfrm>
            <a:off x="914400" y="17556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D6A84B"/>
                </a:solidFill>
              </a:rPr>
              <a:t>TU MISIÓN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84B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36192" y="23317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Elige UN personaje.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10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84B"/>
                </a:solidFill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36192" y="32461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Escribe 3 frases en pasado.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224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84B"/>
                </a:solidFill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36192" y="416052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escribas su nombre.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608576" y="1417320"/>
            <a:ext cx="6583680" cy="1252728"/>
          </a:xfrm>
          <a:prstGeom prst="roundRect">
            <a:avLst>
              <a:gd name="adj" fmla="val 5839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4892040" y="1691640"/>
            <a:ext cx="658368" cy="658368"/>
          </a:xfrm>
          <a:prstGeom prst="ellipse">
            <a:avLst/>
          </a:prstGeom>
          <a:solidFill>
            <a:srgbClr val="C4512D"/>
          </a:solidFill>
          <a:ln w="12700">
            <a:solidFill>
              <a:srgbClr val="C451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3208" y="1856232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16459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Gabriel García Márquez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806440" y="2065379"/>
            <a:ext cx="4526280" cy="4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nacer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) Colombia / (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escribir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) 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novelas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famosas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 /(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ganar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) Premio Nobel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08576" y="2935224"/>
            <a:ext cx="6583680" cy="1252728"/>
          </a:xfrm>
          <a:prstGeom prst="roundRect">
            <a:avLst>
              <a:gd name="adj" fmla="val 5839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8" name="Shape 16"/>
          <p:cNvSpPr/>
          <p:nvPr/>
        </p:nvSpPr>
        <p:spPr>
          <a:xfrm>
            <a:off x="4892040" y="3209544"/>
            <a:ext cx="658368" cy="658368"/>
          </a:xfrm>
          <a:prstGeom prst="ellipse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33741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06440" y="31638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Frida Kahlo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806440" y="3516047"/>
            <a:ext cx="4526280" cy="47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(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vivir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) Casa Azul / (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pintar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) 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autorretratos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 / (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sufrir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) 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accidente</a:t>
            </a:r>
            <a:endParaRPr lang="en-US" dirty="0" err="1"/>
          </a:p>
        </p:txBody>
      </p:sp>
      <p:sp>
        <p:nvSpPr>
          <p:cNvPr id="22" name="Shape 20"/>
          <p:cNvSpPr/>
          <p:nvPr/>
        </p:nvSpPr>
        <p:spPr>
          <a:xfrm>
            <a:off x="4608576" y="4453128"/>
            <a:ext cx="6583680" cy="1252728"/>
          </a:xfrm>
          <a:prstGeom prst="roundRect">
            <a:avLst>
              <a:gd name="adj" fmla="val 5839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23" name="Shape 21"/>
          <p:cNvSpPr/>
          <p:nvPr/>
        </p:nvSpPr>
        <p:spPr>
          <a:xfrm>
            <a:off x="4892040" y="4727448"/>
            <a:ext cx="658368" cy="658368"/>
          </a:xfrm>
          <a:prstGeom prst="ellipse">
            <a:avLst/>
          </a:prstGeom>
          <a:solidFill>
            <a:srgbClr val="247B77"/>
          </a:solidFill>
          <a:ln w="12700">
            <a:solidFill>
              <a:srgbClr val="247B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489204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46817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Lionel Messi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806440" y="5022746"/>
            <a:ext cx="4526280" cy="51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(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nacer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) Rosario, Argentina / (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jugar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)  Barcelona / (</a:t>
            </a:r>
            <a:r>
              <a:rPr lang="en-US" dirty="0" err="1">
                <a:solidFill>
                  <a:srgbClr val="59616B"/>
                </a:solidFill>
                <a:ea typeface="+mn-lt"/>
                <a:cs typeface="+mn-lt"/>
              </a:rPr>
              <a:t>ganar</a:t>
            </a:r>
            <a:r>
              <a:rPr lang="en-US" dirty="0">
                <a:solidFill>
                  <a:srgbClr val="59616B"/>
                </a:solidFill>
                <a:ea typeface="+mn-lt"/>
                <a:cs typeface="+mn-lt"/>
              </a:rPr>
              <a:t>) Mundial de Fútbol</a:t>
            </a:r>
            <a:endParaRPr lang="en-US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C4512D"/>
                </a:solidFill>
              </a:rPr>
              <a:t>TRABAJO EN PAREJAS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</a:rPr>
              <a:t>¿Quién es quién?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975104" y="1600200"/>
            <a:ext cx="786384" cy="786384"/>
          </a:xfrm>
          <a:prstGeom prst="ellipse">
            <a:avLst/>
          </a:prstGeom>
          <a:solidFill>
            <a:srgbClr val="C4512D"/>
          </a:solidFill>
          <a:ln w="12700">
            <a:solidFill>
              <a:srgbClr val="C4512D"/>
            </a:solidFill>
            <a:prstDash val="solid"/>
          </a:ln>
          <a:effectLst/>
        </p:spPr>
      </p:sp>
      <p:sp>
        <p:nvSpPr>
          <p:cNvPr id="5" name="Text 3"/>
          <p:cNvSpPr/>
          <p:nvPr/>
        </p:nvSpPr>
        <p:spPr>
          <a:xfrm>
            <a:off x="2231136" y="18105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4672" y="269748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7" name="Text 5"/>
          <p:cNvSpPr/>
          <p:nvPr/>
        </p:nvSpPr>
        <p:spPr>
          <a:xfrm>
            <a:off x="1033272" y="3063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4512D"/>
                </a:solidFill>
              </a:rPr>
              <a:t>LEE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52144" y="372160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7212B"/>
                </a:solidFill>
              </a:rPr>
              <a:t>Tus 3 frases en voz alta. Cuida -ó / -ió.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69664" y="3410712"/>
            <a:ext cx="310896" cy="685800"/>
          </a:xfrm>
          <a:prstGeom prst="chevron">
            <a:avLst/>
          </a:prstGeom>
          <a:solidFill>
            <a:srgbClr val="D9CCB8"/>
          </a:solidFill>
          <a:ln w="12700">
            <a:solidFill>
              <a:srgbClr val="D9CC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42432" y="1600200"/>
            <a:ext cx="786384" cy="786384"/>
          </a:xfrm>
          <a:prstGeom prst="ellipse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  <a:effectLst/>
        </p:spPr>
      </p:sp>
      <p:sp>
        <p:nvSpPr>
          <p:cNvPr id="11" name="Text 9"/>
          <p:cNvSpPr/>
          <p:nvPr/>
        </p:nvSpPr>
        <p:spPr>
          <a:xfrm>
            <a:off x="5998464" y="18105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269748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3" name="Text 11"/>
          <p:cNvSpPr/>
          <p:nvPr/>
        </p:nvSpPr>
        <p:spPr>
          <a:xfrm>
            <a:off x="4800600" y="3063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6A84B"/>
                </a:solidFill>
              </a:rPr>
              <a:t>ESCUCHA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19472" y="372160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7212B"/>
                </a:solidFill>
              </a:rPr>
              <a:t>Adivina: «¿Es Frida Kahlo?»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36992" y="3410712"/>
            <a:ext cx="310896" cy="685800"/>
          </a:xfrm>
          <a:prstGeom prst="chevron">
            <a:avLst/>
          </a:prstGeom>
          <a:solidFill>
            <a:srgbClr val="D9CCB8"/>
          </a:solidFill>
          <a:ln w="12700">
            <a:solidFill>
              <a:srgbClr val="D9CC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0" y="1600200"/>
            <a:ext cx="786384" cy="786384"/>
          </a:xfrm>
          <a:prstGeom prst="ellipse">
            <a:avLst/>
          </a:prstGeom>
          <a:solidFill>
            <a:srgbClr val="247B77"/>
          </a:solidFill>
          <a:ln w="12700">
            <a:solidFill>
              <a:srgbClr val="247B77"/>
            </a:solidFill>
            <a:prstDash val="solid"/>
          </a:ln>
          <a:effectLst/>
        </p:spPr>
      </p:sp>
      <p:sp>
        <p:nvSpPr>
          <p:cNvPr id="17" name="Text 15"/>
          <p:cNvSpPr/>
          <p:nvPr/>
        </p:nvSpPr>
        <p:spPr>
          <a:xfrm>
            <a:off x="9765792" y="18105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39328" y="269748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9" name="Text 17"/>
          <p:cNvSpPr/>
          <p:nvPr/>
        </p:nvSpPr>
        <p:spPr>
          <a:xfrm>
            <a:off x="8567928" y="30632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7B77"/>
                </a:solidFill>
              </a:rPr>
              <a:t>CAMBIAD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686800" y="372160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7212B"/>
                </a:solidFill>
              </a:rPr>
              <a:t>Intercambiad los papeles.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08760" y="566928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Meta: escuchar el verbo, reconocer la terminación y justificar la respuesta.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12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C4512D"/>
                </a:solidFill>
              </a:rPr>
              <a:t>REPASO EN GRUPO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24D"/>
                </a:solidFill>
              </a:rPr>
              <a:t>Puesta en común y verificación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58952" y="1572768"/>
            <a:ext cx="5166360" cy="1618488"/>
          </a:xfrm>
          <a:prstGeom prst="roundRect">
            <a:avLst>
              <a:gd name="adj" fmla="val 4520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5" name="Text 3"/>
          <p:cNvSpPr/>
          <p:nvPr/>
        </p:nvSpPr>
        <p:spPr>
          <a:xfrm>
            <a:off x="1014984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4512D"/>
                </a:solidFill>
              </a:rPr>
              <a:t>01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783080" y="17830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Compartimos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83080" y="234086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9616B"/>
                </a:solidFill>
              </a:rPr>
              <a:t>Leemos algunas frases creadas en clase.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90488" y="1572768"/>
            <a:ext cx="5166360" cy="1618488"/>
          </a:xfrm>
          <a:prstGeom prst="roundRect">
            <a:avLst>
              <a:gd name="adj" fmla="val 4520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9" name="Text 7"/>
          <p:cNvSpPr/>
          <p:nvPr/>
        </p:nvSpPr>
        <p:spPr>
          <a:xfrm>
            <a:off x="644652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4512D"/>
                </a:solidFill>
              </a:rPr>
              <a:t>02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214616" y="17830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Acentuamos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214616" y="234086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9616B"/>
                </a:solidFill>
              </a:rPr>
              <a:t>Comprobamos la vocal final: -ó / -ió.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58952" y="3703320"/>
            <a:ext cx="5166360" cy="1618488"/>
          </a:xfrm>
          <a:prstGeom prst="roundRect">
            <a:avLst>
              <a:gd name="adj" fmla="val 4520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3" name="Text 11"/>
          <p:cNvSpPr/>
          <p:nvPr/>
        </p:nvSpPr>
        <p:spPr>
          <a:xfrm>
            <a:off x="1014984" y="39593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4512D"/>
                </a:solidFill>
              </a:rPr>
              <a:t>03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783080" y="39136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Pronunciamos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83080" y="447141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9616B"/>
                </a:solidFill>
              </a:rPr>
              <a:t>Marcamos claramente -aron / -ieron.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190488" y="3703320"/>
            <a:ext cx="5166360" cy="1618488"/>
          </a:xfrm>
          <a:prstGeom prst="roundRect">
            <a:avLst>
              <a:gd name="adj" fmla="val 4520"/>
            </a:avLst>
          </a:prstGeom>
          <a:solidFill>
            <a:srgbClr val="FFFDF8"/>
          </a:solidFill>
          <a:ln w="12700">
            <a:solidFill>
              <a:srgbClr val="D9CCB8"/>
            </a:solidFill>
            <a:prstDash val="solid"/>
          </a:ln>
          <a:effectLst/>
        </p:spPr>
      </p:sp>
      <p:sp>
        <p:nvSpPr>
          <p:cNvPr id="17" name="Text 15"/>
          <p:cNvSpPr/>
          <p:nvPr/>
        </p:nvSpPr>
        <p:spPr>
          <a:xfrm>
            <a:off x="6446520" y="39593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7B77"/>
                </a:solidFill>
              </a:rPr>
              <a:t>04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214616" y="39136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Aplicamos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214616" y="447141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59616B"/>
                </a:solidFill>
              </a:rPr>
              <a:t>Nos preparamos para el juego.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315968" y="5824728"/>
            <a:ext cx="3566160" cy="329184"/>
          </a:xfrm>
          <a:prstGeom prst="roundRect">
            <a:avLst>
              <a:gd name="adj" fmla="val 22222"/>
            </a:avLst>
          </a:prstGeom>
          <a:solidFill>
            <a:srgbClr val="247B77"/>
          </a:solidFill>
          <a:ln w="12700">
            <a:solidFill>
              <a:srgbClr val="247B77"/>
            </a:solidFill>
            <a:prstDash val="solid"/>
          </a:ln>
          <a:effectLst/>
        </p:spPr>
      </p:sp>
      <p:sp>
        <p:nvSpPr>
          <p:cNvPr id="21" name="Text 19"/>
          <p:cNvSpPr/>
          <p:nvPr/>
        </p:nvSpPr>
        <p:spPr>
          <a:xfrm>
            <a:off x="4425696" y="5888736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¡LISTOS PARA EL JUEGO!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B776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Rīgas Valsts vācu ģimnāzija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Cilvēku biogrāfijas: El Día de la Hispanidad</dc:title>
  <dc:subject>Pretérito Indefinido y biografías</dc:subject>
  <dc:creator>Francisco Nunez Romero Olmo</dc:creator>
  <cp:lastModifiedBy>Francisco Nunez Romero Olmo</cp:lastModifiedBy>
  <cp:revision>69</cp:revision>
  <dcterms:created xsi:type="dcterms:W3CDTF">2026-10-05T09:34:27Z</dcterms:created>
  <dcterms:modified xsi:type="dcterms:W3CDTF">2026-10-06T06:22:26Z</dcterms:modified>
</cp:coreProperties>
</file>